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1" r:id="rId15"/>
    <p:sldId id="272" r:id="rId16"/>
    <p:sldId id="273" r:id="rId17"/>
    <p:sldId id="274" r:id="rId18"/>
    <p:sldId id="275" r:id="rId19"/>
  </p:sldIdLst>
  <p:sldSz cx="14630400" cy="10972800"/>
  <p:notesSz cx="10972800" cy="14630400"/>
  <p:embeddedFontLst>
    <p:embeddedFont>
      <p:font typeface="Consolas" panose="020B0609020204030204" pitchFamily="49" charset="0"/>
      <p:regular r:id="rId21"/>
      <p:bold r:id="rId22"/>
      <p:italic r:id="rId23"/>
      <p:boldItalic r:id="rId24"/>
    </p:embeddedFont>
    <p:embeddedFont>
      <p:font typeface="Red Hat Text" panose="020B0604020202020204" charset="0"/>
      <p:regular r:id="rId25"/>
    </p:embeddedFont>
    <p:embeddedFont>
      <p:font typeface="Roboto Light" panose="02000000000000000000" pitchFamily="2" charset="0"/>
      <p:regular r:id="rId26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1156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3139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109728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FFAFA"/>
          </a:solidFill>
          <a:ln/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109728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FFAFA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109728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FFAFA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109728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FFAFA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109728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FFAFA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109728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FFAFA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109728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FFAFA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109728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FFAFA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109728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FFAFA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109728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FFAFA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109728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FFAFA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109728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FFAFA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109728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FFAFA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109728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FFAFA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109728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FFAFA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109728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FFAFA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109728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FFAFA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109728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FFAFA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109728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FFAFA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109728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FFAFA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Relationship Id="rId9" Type="http://schemas.openxmlformats.org/officeDocument/2006/relationships/image" Target="../media/image21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10972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4155400"/>
            <a:ext cx="4928354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GestionEleves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6324124" y="4855012"/>
            <a:ext cx="515647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Du suivi des élèves à la génération des bulletins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324124" y="5477113"/>
            <a:ext cx="7468553" cy="1340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Une plateforme web complète pour centraliser la gestion scolaire : élèves, classes, matières, notes, inscriptions et bulletins. Architecture moderne basée sur une API Spring Boot sécurisée avec authentification JWT stateless et interface web intuitive.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3000970"/>
            <a:ext cx="8852535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 err="1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Centralisation</a:t>
            </a:r>
            <a:r>
              <a:rPr lang="en-US" sz="385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et sécurité</a:t>
            </a:r>
            <a:endParaRPr lang="en-US" sz="3850" dirty="0"/>
          </a:p>
        </p:txBody>
      </p:sp>
      <p:sp>
        <p:nvSpPr>
          <p:cNvPr id="3" name="Shape 1"/>
          <p:cNvSpPr/>
          <p:nvPr/>
        </p:nvSpPr>
        <p:spPr>
          <a:xfrm>
            <a:off x="837724" y="4035743"/>
            <a:ext cx="4178618" cy="3030379"/>
          </a:xfrm>
          <a:prstGeom prst="roundRect">
            <a:avLst>
              <a:gd name="adj" fmla="val 1037"/>
            </a:avLst>
          </a:prstGeom>
          <a:solidFill>
            <a:srgbClr val="F3E8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1047155" y="4245173"/>
            <a:ext cx="628293" cy="628293"/>
          </a:xfrm>
          <a:prstGeom prst="roundRect">
            <a:avLst>
              <a:gd name="adj" fmla="val 14552264"/>
            </a:avLst>
          </a:prstGeom>
          <a:solidFill>
            <a:srgbClr val="F5A3A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9914" y="4417933"/>
            <a:ext cx="282654" cy="2826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47155" y="5082897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Sécurité renforcée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047155" y="5516523"/>
            <a:ext cx="3759756" cy="1340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Authentification JWT stateless avec gestion granulaire des rôles et permissions. Chaque action est tracée et contrôlée.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225772" y="4035743"/>
            <a:ext cx="4178737" cy="3030379"/>
          </a:xfrm>
          <a:prstGeom prst="roundRect">
            <a:avLst>
              <a:gd name="adj" fmla="val 1037"/>
            </a:avLst>
          </a:prstGeom>
          <a:solidFill>
            <a:srgbClr val="F3E8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5435203" y="4245173"/>
            <a:ext cx="628293" cy="628293"/>
          </a:xfrm>
          <a:prstGeom prst="roundRect">
            <a:avLst>
              <a:gd name="adj" fmla="val 14552264"/>
            </a:avLst>
          </a:prstGeom>
          <a:solidFill>
            <a:srgbClr val="F5A3A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07963" y="4417933"/>
            <a:ext cx="282654" cy="28265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35203" y="5082897"/>
            <a:ext cx="2614017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Centralisation complète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5435203" y="5516523"/>
            <a:ext cx="3759875" cy="1005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Toutes les données scolaires dans un référentiel unique, accessible selon les droits de chaque utilisateur.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9613940" y="4035743"/>
            <a:ext cx="4178737" cy="3030379"/>
          </a:xfrm>
          <a:prstGeom prst="roundRect">
            <a:avLst>
              <a:gd name="adj" fmla="val 1037"/>
            </a:avLst>
          </a:prstGeom>
          <a:solidFill>
            <a:srgbClr val="F3E8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Shape 10"/>
          <p:cNvSpPr/>
          <p:nvPr/>
        </p:nvSpPr>
        <p:spPr>
          <a:xfrm>
            <a:off x="9823371" y="4245173"/>
            <a:ext cx="628293" cy="628293"/>
          </a:xfrm>
          <a:prstGeom prst="roundRect">
            <a:avLst>
              <a:gd name="adj" fmla="val 14552264"/>
            </a:avLst>
          </a:prstGeom>
          <a:solidFill>
            <a:srgbClr val="F5A3A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96130" y="4417933"/>
            <a:ext cx="282654" cy="28265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23371" y="5082897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Fiabilité accrue</a:t>
            </a:r>
            <a:endParaRPr lang="en-US" sz="1900" dirty="0"/>
          </a:p>
        </p:txBody>
      </p:sp>
      <p:sp>
        <p:nvSpPr>
          <p:cNvPr id="17" name="Text 12"/>
          <p:cNvSpPr/>
          <p:nvPr/>
        </p:nvSpPr>
        <p:spPr>
          <a:xfrm>
            <a:off x="9823371" y="5516523"/>
            <a:ext cx="3759875" cy="1005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Validation automatique des données, réduction des erreurs de saisie, cohérence garantie entre les entités.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7724" y="7301746"/>
            <a:ext cx="12954952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GestionEleves transforme la gestion administrative en un processus fluide et sécurisé, libérant du temps pour l'accompagnement pédagogique.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324124" y="2507933"/>
            <a:ext cx="6756678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Architecture technique globale</a:t>
            </a:r>
            <a:endParaRPr lang="en-US" sz="38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124" y="3437930"/>
            <a:ext cx="1047274" cy="125670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80828" y="3647361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Client Web</a:t>
            </a:r>
            <a:endParaRPr lang="en-US" sz="1900" dirty="0"/>
          </a:p>
        </p:txBody>
      </p:sp>
      <p:sp>
        <p:nvSpPr>
          <p:cNvPr id="6" name="Text 2"/>
          <p:cNvSpPr/>
          <p:nvPr/>
        </p:nvSpPr>
        <p:spPr>
          <a:xfrm>
            <a:off x="7580828" y="4080986"/>
            <a:ext cx="6211848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Interface utilisateur moderne (JS / React)</a:t>
            </a:r>
            <a:endParaRPr lang="en-US" sz="16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124" y="4694634"/>
            <a:ext cx="1047274" cy="125670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580828" y="4904065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API REST</a:t>
            </a:r>
            <a:endParaRPr lang="en-US" sz="1900" dirty="0"/>
          </a:p>
        </p:txBody>
      </p:sp>
      <p:sp>
        <p:nvSpPr>
          <p:cNvPr id="9" name="Text 4"/>
          <p:cNvSpPr/>
          <p:nvPr/>
        </p:nvSpPr>
        <p:spPr>
          <a:xfrm>
            <a:off x="7580828" y="5337691"/>
            <a:ext cx="6211848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Spring Boot avec sécurité JWT</a:t>
            </a:r>
            <a:endParaRPr lang="en-US" sz="16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4124" y="5951339"/>
            <a:ext cx="1047274" cy="125670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580828" y="6160770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Services</a:t>
            </a:r>
            <a:endParaRPr lang="en-US" sz="1900" dirty="0"/>
          </a:p>
        </p:txBody>
      </p:sp>
      <p:sp>
        <p:nvSpPr>
          <p:cNvPr id="12" name="Text 6"/>
          <p:cNvSpPr/>
          <p:nvPr/>
        </p:nvSpPr>
        <p:spPr>
          <a:xfrm>
            <a:off x="7580828" y="6594396"/>
            <a:ext cx="6211848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Logique métier et mappers</a:t>
            </a:r>
            <a:endParaRPr lang="en-US" sz="16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4124" y="7208044"/>
            <a:ext cx="1047274" cy="125670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580828" y="7417475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Persistance</a:t>
            </a:r>
            <a:endParaRPr lang="en-US" sz="1900" dirty="0"/>
          </a:p>
        </p:txBody>
      </p:sp>
      <p:sp>
        <p:nvSpPr>
          <p:cNvPr id="15" name="Text 8"/>
          <p:cNvSpPr/>
          <p:nvPr/>
        </p:nvSpPr>
        <p:spPr>
          <a:xfrm>
            <a:off x="7580828" y="7851100"/>
            <a:ext cx="6211848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Repository + Base de données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3394710"/>
            <a:ext cx="6727627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Architecture : composants clés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837724" y="4534138"/>
            <a:ext cx="2957036" cy="369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Stack technique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837724" y="5113258"/>
            <a:ext cx="7568565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b="1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Backend :</a:t>
            </a: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Spring Boot (Java), architecture REST stateless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37724" y="5521523"/>
            <a:ext cx="7568565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b="1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Sécurité :</a:t>
            </a: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JWT avec validation systématique, session stateless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37724" y="5929789"/>
            <a:ext cx="7568565" cy="350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b="1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Documentation :</a:t>
            </a: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Swagger/OpenAPI accessible via </a:t>
            </a:r>
            <a:r>
              <a:rPr lang="en-US" sz="16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/swagger-ui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7724" y="6353294"/>
            <a:ext cx="7568565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b="1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Frontend :</a:t>
            </a: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Application web JavaScript moderne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37724" y="6761559"/>
            <a:ext cx="7568565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b="1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Base de données :</a:t>
            </a: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Support H2/PostgreSQL/MySQL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37724" y="7169825"/>
            <a:ext cx="7568565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b="1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Développement :</a:t>
            </a: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CORS configuré pour ports 3000, 4200, 5173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924925" y="4560332"/>
            <a:ext cx="4875371" cy="2412444"/>
          </a:xfrm>
          <a:prstGeom prst="roundRect">
            <a:avLst>
              <a:gd name="adj" fmla="val 1302"/>
            </a:avLst>
          </a:prstGeom>
          <a:solidFill>
            <a:srgbClr val="F7BAB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4356" y="4842629"/>
            <a:ext cx="308015" cy="2463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651802" y="4822031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Points d'attention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9651802" y="5339477"/>
            <a:ext cx="3939064" cy="1340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L'architecture stateless permet un scaling horizontal simple. Tous les endpoints sont documentés automatiquement via Swagger pour faciliter l'intégration.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503640"/>
            <a:ext cx="9488091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Configuration sécurité : SecurityFilterChain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837724" y="2538413"/>
            <a:ext cx="12954952" cy="68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Le cœur de notre sécurité repose sur une configuration Spring Security centralisée dans </a:t>
            </a:r>
            <a:r>
              <a:rPr lang="en-US" sz="16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ApplicationSecurityConfig.java</a:t>
            </a: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. Cette classe définit toutes les règles d'accès, le filtre JWT, et les gestionnaires d'erreurs.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37724" y="3459361"/>
            <a:ext cx="12954952" cy="6009799"/>
          </a:xfrm>
          <a:prstGeom prst="roundRect">
            <a:avLst>
              <a:gd name="adj" fmla="val 523"/>
            </a:avLst>
          </a:prstGeom>
          <a:solidFill>
            <a:srgbClr val="F2ED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827365" y="3459361"/>
            <a:ext cx="12975669" cy="6617893"/>
          </a:xfrm>
          <a:prstGeom prst="roundRect">
            <a:avLst>
              <a:gd name="adj" fmla="val 523"/>
            </a:avLst>
          </a:prstGeom>
          <a:solidFill>
            <a:srgbClr val="F2ED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206631" y="3616404"/>
            <a:ext cx="12386973" cy="6347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600"/>
              </a:lnSpc>
            </a:pP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http</a:t>
            </a:r>
          </a:p>
          <a:p>
            <a:pPr>
              <a:lnSpc>
                <a:spcPts val="2600"/>
              </a:lnSpc>
            </a:pP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.</a:t>
            </a:r>
            <a:r>
              <a:rPr lang="en-US" sz="1600" dirty="0" err="1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csrf</a:t>
            </a: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(</a:t>
            </a:r>
            <a:r>
              <a:rPr lang="en-US" sz="1600" dirty="0" err="1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csrf</a:t>
            </a: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-&gt; </a:t>
            </a:r>
            <a:r>
              <a:rPr lang="en-US" sz="1600" dirty="0" err="1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csrf.disable</a:t>
            </a: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())</a:t>
            </a:r>
          </a:p>
          <a:p>
            <a:pPr>
              <a:lnSpc>
                <a:spcPts val="2600"/>
              </a:lnSpc>
            </a:pP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.</a:t>
            </a:r>
            <a:r>
              <a:rPr lang="en-US" sz="1600" dirty="0" err="1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cors</a:t>
            </a: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(</a:t>
            </a:r>
            <a:r>
              <a:rPr lang="en-US" sz="1600" dirty="0" err="1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Customizer.withDefaults</a:t>
            </a: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())</a:t>
            </a:r>
          </a:p>
          <a:p>
            <a:pPr>
              <a:lnSpc>
                <a:spcPts val="2600"/>
              </a:lnSpc>
            </a:pP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.</a:t>
            </a:r>
            <a:r>
              <a:rPr lang="en-US" sz="1600" dirty="0" err="1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exceptionHandling</a:t>
            </a: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(eh -&gt; eh</a:t>
            </a:r>
          </a:p>
          <a:p>
            <a:pPr>
              <a:lnSpc>
                <a:spcPts val="2600"/>
              </a:lnSpc>
            </a:pP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.</a:t>
            </a:r>
            <a:r>
              <a:rPr lang="en-US" sz="1600" dirty="0" err="1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authenticationEntryPoint</a:t>
            </a: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(</a:t>
            </a:r>
            <a:r>
              <a:rPr lang="en-US" sz="1600" dirty="0" err="1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authenticationEntryPoint</a:t>
            </a: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)</a:t>
            </a:r>
          </a:p>
          <a:p>
            <a:pPr>
              <a:lnSpc>
                <a:spcPts val="2600"/>
              </a:lnSpc>
            </a:pP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.</a:t>
            </a:r>
            <a:r>
              <a:rPr lang="en-US" sz="1600" dirty="0" err="1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accessDeniedHandler</a:t>
            </a: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(</a:t>
            </a:r>
            <a:r>
              <a:rPr lang="en-US" sz="1600" dirty="0" err="1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accessDeniedHandler</a:t>
            </a: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)</a:t>
            </a:r>
          </a:p>
          <a:p>
            <a:pPr>
              <a:lnSpc>
                <a:spcPts val="2600"/>
              </a:lnSpc>
            </a:pP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)</a:t>
            </a:r>
          </a:p>
          <a:p>
            <a:pPr>
              <a:lnSpc>
                <a:spcPts val="2600"/>
              </a:lnSpc>
            </a:pP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.</a:t>
            </a:r>
            <a:r>
              <a:rPr lang="en-US" sz="1600" dirty="0" err="1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sessionManagement</a:t>
            </a: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(</a:t>
            </a:r>
            <a:r>
              <a:rPr lang="en-US" sz="1600" dirty="0" err="1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sm</a:t>
            </a: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-&gt;</a:t>
            </a:r>
          </a:p>
          <a:p>
            <a:pPr>
              <a:lnSpc>
                <a:spcPts val="2600"/>
              </a:lnSpc>
            </a:pP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</a:t>
            </a:r>
            <a:r>
              <a:rPr lang="en-US" sz="1600" dirty="0" err="1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sm.sessionCreationPolicy</a:t>
            </a: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(</a:t>
            </a:r>
            <a:r>
              <a:rPr lang="en-US" sz="1600" dirty="0" err="1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SessionCreationPolicy.STATELESS</a:t>
            </a: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)</a:t>
            </a:r>
          </a:p>
          <a:p>
            <a:pPr>
              <a:lnSpc>
                <a:spcPts val="2600"/>
              </a:lnSpc>
            </a:pP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)</a:t>
            </a:r>
          </a:p>
          <a:p>
            <a:pPr>
              <a:lnSpc>
                <a:spcPts val="2600"/>
              </a:lnSpc>
            </a:pP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.</a:t>
            </a:r>
            <a:r>
              <a:rPr lang="en-US" sz="1600" dirty="0" err="1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authorizeHttpRequests</a:t>
            </a: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(auth -&gt; auth</a:t>
            </a:r>
          </a:p>
          <a:p>
            <a:pPr>
              <a:lnSpc>
                <a:spcPts val="2600"/>
              </a:lnSpc>
            </a:pP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.</a:t>
            </a:r>
            <a:r>
              <a:rPr lang="en-US" sz="1600" dirty="0" err="1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requestMatchers</a:t>
            </a: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("/auth/**").</a:t>
            </a:r>
            <a:r>
              <a:rPr lang="en-US" sz="1600" dirty="0" err="1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permitAll</a:t>
            </a: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()</a:t>
            </a:r>
          </a:p>
          <a:p>
            <a:pPr>
              <a:lnSpc>
                <a:spcPts val="2600"/>
              </a:lnSpc>
            </a:pP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.</a:t>
            </a:r>
            <a:r>
              <a:rPr lang="en-US" sz="1600" dirty="0" err="1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requestMatchers</a:t>
            </a: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("/v3/</a:t>
            </a:r>
            <a:r>
              <a:rPr lang="en-US" sz="1600" dirty="0" err="1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api</a:t>
            </a: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-docs/**", "/swagger-</a:t>
            </a:r>
            <a:r>
              <a:rPr lang="en-US" sz="1600" dirty="0" err="1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ui</a:t>
            </a: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/**").</a:t>
            </a:r>
            <a:r>
              <a:rPr lang="en-US" sz="1600" dirty="0" err="1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permitAll</a:t>
            </a: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()</a:t>
            </a:r>
          </a:p>
          <a:p>
            <a:pPr>
              <a:lnSpc>
                <a:spcPts val="2600"/>
              </a:lnSpc>
            </a:pP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.</a:t>
            </a:r>
            <a:r>
              <a:rPr lang="en-US" sz="1600" dirty="0" err="1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requestMatchers</a:t>
            </a: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(</a:t>
            </a:r>
            <a:r>
              <a:rPr lang="en-US" sz="1600" dirty="0" err="1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HttpMethod.OPTIONS</a:t>
            </a: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, "/**").</a:t>
            </a:r>
            <a:r>
              <a:rPr lang="en-US" sz="1600" dirty="0" err="1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permitAll</a:t>
            </a: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()</a:t>
            </a:r>
          </a:p>
          <a:p>
            <a:pPr>
              <a:lnSpc>
                <a:spcPts val="2600"/>
              </a:lnSpc>
            </a:pP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// ... </a:t>
            </a:r>
            <a:r>
              <a:rPr lang="en-US" sz="1600" dirty="0" err="1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règles</a:t>
            </a: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par </a:t>
            </a:r>
            <a:r>
              <a:rPr lang="en-US" sz="1600" dirty="0" err="1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ressource</a:t>
            </a: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et </a:t>
            </a:r>
            <a:r>
              <a:rPr lang="en-US" sz="1600" dirty="0" err="1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rôle</a:t>
            </a: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...</a:t>
            </a:r>
          </a:p>
          <a:p>
            <a:pPr>
              <a:lnSpc>
                <a:spcPts val="2600"/>
              </a:lnSpc>
            </a:pP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.</a:t>
            </a:r>
            <a:r>
              <a:rPr lang="en-US" sz="1600" dirty="0" err="1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anyRequest</a:t>
            </a: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().</a:t>
            </a:r>
            <a:r>
              <a:rPr lang="en-US" sz="1600" dirty="0" err="1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denyAll</a:t>
            </a: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()</a:t>
            </a:r>
          </a:p>
          <a:p>
            <a:pPr>
              <a:lnSpc>
                <a:spcPts val="2600"/>
              </a:lnSpc>
            </a:pP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)</a:t>
            </a:r>
          </a:p>
          <a:p>
            <a:pPr>
              <a:lnSpc>
                <a:spcPts val="2600"/>
              </a:lnSpc>
            </a:pP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.</a:t>
            </a:r>
            <a:r>
              <a:rPr lang="en-US" sz="1600" dirty="0" err="1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authenticationProvider</a:t>
            </a: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(</a:t>
            </a:r>
            <a:r>
              <a:rPr lang="en-US" sz="1600" dirty="0" err="1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authenticationProvider</a:t>
            </a: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())</a:t>
            </a:r>
          </a:p>
          <a:p>
            <a:pPr>
              <a:lnSpc>
                <a:spcPts val="2600"/>
              </a:lnSpc>
            </a:pP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.</a:t>
            </a:r>
            <a:r>
              <a:rPr lang="en-US" sz="1600" dirty="0" err="1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addFilterBefore</a:t>
            </a: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(</a:t>
            </a:r>
            <a:r>
              <a:rPr lang="en-US" sz="1600" dirty="0" err="1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jwtAuthFilter</a:t>
            </a: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, </a:t>
            </a:r>
            <a:r>
              <a:rPr lang="en-US" sz="1600" dirty="0" err="1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UsernamePasswordAuthenticationFilter.class</a:t>
            </a: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);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792724"/>
            <a:ext cx="8212098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Configuration sécurité : principes clés</a:t>
            </a:r>
            <a:endParaRPr lang="en-US" sz="3850" dirty="0"/>
          </a:p>
        </p:txBody>
      </p:sp>
      <p:sp>
        <p:nvSpPr>
          <p:cNvPr id="3" name="Shape 1"/>
          <p:cNvSpPr/>
          <p:nvPr/>
        </p:nvSpPr>
        <p:spPr>
          <a:xfrm>
            <a:off x="837724" y="3141583"/>
            <a:ext cx="6372701" cy="1859637"/>
          </a:xfrm>
          <a:prstGeom prst="roundRect">
            <a:avLst>
              <a:gd name="adj" fmla="val 5901"/>
            </a:avLst>
          </a:prstGeom>
          <a:solidFill>
            <a:srgbClr val="FFFAF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837724" y="3118723"/>
            <a:ext cx="6372701" cy="91440"/>
          </a:xfrm>
          <a:prstGeom prst="roundRect">
            <a:avLst>
              <a:gd name="adj" fmla="val 34360"/>
            </a:avLst>
          </a:prstGeom>
          <a:solidFill>
            <a:srgbClr val="F5A3A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709928" y="2827496"/>
            <a:ext cx="628293" cy="628293"/>
          </a:xfrm>
          <a:prstGeom prst="roundRect">
            <a:avLst>
              <a:gd name="adj" fmla="val 145537"/>
            </a:avLst>
          </a:prstGeom>
          <a:solidFill>
            <a:srgbClr val="F5A3A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898404" y="2984540"/>
            <a:ext cx="251341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1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070015" y="3665220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CSRF désactivé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70015" y="4098846"/>
            <a:ext cx="5908119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Architecture stateless sans cookies de session, donc pas de vulnérabilité CSRF. Les tokens JWT dans les headers suffisent.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419856" y="3141583"/>
            <a:ext cx="6372820" cy="1859637"/>
          </a:xfrm>
          <a:prstGeom prst="roundRect">
            <a:avLst>
              <a:gd name="adj" fmla="val 5901"/>
            </a:avLst>
          </a:prstGeom>
          <a:solidFill>
            <a:srgbClr val="FFFAF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7419856" y="3118723"/>
            <a:ext cx="6372820" cy="91440"/>
          </a:xfrm>
          <a:prstGeom prst="roundRect">
            <a:avLst>
              <a:gd name="adj" fmla="val 34360"/>
            </a:avLst>
          </a:prstGeom>
          <a:solidFill>
            <a:srgbClr val="F5A3A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10292060" y="2827496"/>
            <a:ext cx="628293" cy="628293"/>
          </a:xfrm>
          <a:prstGeom prst="roundRect">
            <a:avLst>
              <a:gd name="adj" fmla="val 145537"/>
            </a:avLst>
          </a:prstGeom>
          <a:solidFill>
            <a:srgbClr val="F5A3A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10480536" y="2984540"/>
            <a:ext cx="251341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2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7652147" y="3665220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CORS configuré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652147" y="4098846"/>
            <a:ext cx="5908238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Origines autorisées en développement (ports 3000, 4200, 5173) pour permettre l'intégration frontend.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37724" y="5524738"/>
            <a:ext cx="6372701" cy="2194679"/>
          </a:xfrm>
          <a:prstGeom prst="roundRect">
            <a:avLst>
              <a:gd name="adj" fmla="val 5000"/>
            </a:avLst>
          </a:prstGeom>
          <a:solidFill>
            <a:srgbClr val="FFFAF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837724" y="5501878"/>
            <a:ext cx="6372701" cy="91440"/>
          </a:xfrm>
          <a:prstGeom prst="roundRect">
            <a:avLst>
              <a:gd name="adj" fmla="val 34360"/>
            </a:avLst>
          </a:prstGeom>
          <a:solidFill>
            <a:srgbClr val="F5A3A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3709928" y="5210651"/>
            <a:ext cx="628293" cy="628293"/>
          </a:xfrm>
          <a:prstGeom prst="roundRect">
            <a:avLst>
              <a:gd name="adj" fmla="val 145537"/>
            </a:avLst>
          </a:prstGeom>
          <a:solidFill>
            <a:srgbClr val="F5A3A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3898404" y="5367695"/>
            <a:ext cx="251341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3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070015" y="6048375"/>
            <a:ext cx="2637830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Gestion d'erreurs JSON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1070015" y="6482001"/>
            <a:ext cx="5908119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Réponses 401 (non authentifié) et 403 (non autorisé) retournées en JSON cohérent, jamais de redirection HTML.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419856" y="5524738"/>
            <a:ext cx="6372820" cy="2194679"/>
          </a:xfrm>
          <a:prstGeom prst="roundRect">
            <a:avLst>
              <a:gd name="adj" fmla="val 5000"/>
            </a:avLst>
          </a:prstGeom>
          <a:solidFill>
            <a:srgbClr val="FFFAF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7419856" y="5501878"/>
            <a:ext cx="6372820" cy="91440"/>
          </a:xfrm>
          <a:prstGeom prst="roundRect">
            <a:avLst>
              <a:gd name="adj" fmla="val 34360"/>
            </a:avLst>
          </a:prstGeom>
          <a:solidFill>
            <a:srgbClr val="F5A3A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10292060" y="5210651"/>
            <a:ext cx="628293" cy="628293"/>
          </a:xfrm>
          <a:prstGeom prst="roundRect">
            <a:avLst>
              <a:gd name="adj" fmla="val 145537"/>
            </a:avLst>
          </a:prstGeom>
          <a:solidFill>
            <a:srgbClr val="F5A3A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10480536" y="5367695"/>
            <a:ext cx="251341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4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7652147" y="6048375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Stateless total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7652147" y="6482001"/>
            <a:ext cx="5908238" cy="1005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Aucune session serveur. Chaque requête est validée indépendamment via le JWT, permettant un scaling horizontal simple.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37724" y="7955042"/>
            <a:ext cx="12954952" cy="1224915"/>
          </a:xfrm>
          <a:prstGeom prst="roundRect">
            <a:avLst>
              <a:gd name="adj" fmla="val 2565"/>
            </a:avLst>
          </a:prstGeom>
          <a:solidFill>
            <a:srgbClr val="F7BAB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155" y="8261985"/>
            <a:ext cx="261818" cy="209431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518404" y="8216741"/>
            <a:ext cx="12064841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À retenir :</a:t>
            </a:r>
            <a:r>
              <a:rPr lang="en-US" sz="160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Le filtre JWT s'exécute avant le filtre d'authentification classique, interceptant chaque requête pour valider le token et remplir le SecurityContext.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102644"/>
            <a:ext cx="7005995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Matrice des rôles et permissions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837724" y="3137416"/>
            <a:ext cx="12954952" cy="68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600"/>
              </a:lnSpc>
            </a:pPr>
            <a:r>
              <a:rPr lang="fr-FR" sz="1600" dirty="0"/>
              <a:t>On a trois rôles, chacun avec ses propres permissions. La matrice de droits est appliquée directement dans </a:t>
            </a:r>
            <a:r>
              <a:rPr lang="fr-FR" sz="1600" dirty="0" err="1"/>
              <a:t>ApplicationSecurityConfig</a:t>
            </a:r>
            <a:r>
              <a:rPr lang="fr-FR" sz="1600" dirty="0"/>
              <a:t> avec des règles explicites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37724" y="4058364"/>
            <a:ext cx="12954952" cy="4225766"/>
          </a:xfrm>
          <a:prstGeom prst="roundRect">
            <a:avLst>
              <a:gd name="adj" fmla="val 744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845344" y="4065984"/>
            <a:ext cx="12939713" cy="60150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054775" y="4199215"/>
            <a:ext cx="2812256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Ressource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293513" y="4199215"/>
            <a:ext cx="2808446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ADMIN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528441" y="4199215"/>
            <a:ext cx="2808446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ENSEIGNANT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763369" y="4199215"/>
            <a:ext cx="2812256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RESPONSABLE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45344" y="4667488"/>
            <a:ext cx="12939713" cy="60150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1054775" y="4800719"/>
            <a:ext cx="2812256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Élèves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293513" y="4800719"/>
            <a:ext cx="2808446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GET/POST/PUT/DELETE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528441" y="4800719"/>
            <a:ext cx="2808446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GET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763369" y="4800719"/>
            <a:ext cx="2812256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GET/POST/PUT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45344" y="5268992"/>
            <a:ext cx="12939713" cy="60150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1054775" y="5402223"/>
            <a:ext cx="2812256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Notes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293513" y="5402223"/>
            <a:ext cx="2808446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GET/POST/PUT/DELETE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528441" y="5402223"/>
            <a:ext cx="2808446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GET/POST/PUT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763369" y="5402223"/>
            <a:ext cx="2812256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GET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45344" y="5870496"/>
            <a:ext cx="12939713" cy="60150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1054775" y="6003727"/>
            <a:ext cx="2812256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Matières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293513" y="6003727"/>
            <a:ext cx="2808446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GET/POST/PUT/DELETE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528441" y="6003727"/>
            <a:ext cx="2808446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GET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763369" y="6003727"/>
            <a:ext cx="2812256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GET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45344" y="6471999"/>
            <a:ext cx="12939713" cy="60150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1054775" y="6605230"/>
            <a:ext cx="2812256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Classes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293513" y="6605230"/>
            <a:ext cx="2808446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GET/POST/PUT/DELETE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528441" y="6605230"/>
            <a:ext cx="2808446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GET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763369" y="6605230"/>
            <a:ext cx="2812256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GET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45344" y="7073503"/>
            <a:ext cx="12939713" cy="60150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1054775" y="7206734"/>
            <a:ext cx="2812256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Inscriptions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293513" y="7206734"/>
            <a:ext cx="2808446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GET/POST/DELETE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528441" y="7206734"/>
            <a:ext cx="2808446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GET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763369" y="7206734"/>
            <a:ext cx="2812256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GET/POST/DELETE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45344" y="7675007"/>
            <a:ext cx="12939713" cy="60150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1054775" y="7808238"/>
            <a:ext cx="2812256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Bulletins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293513" y="7808238"/>
            <a:ext cx="2808446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GET/POST/PUT/DELETE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528441" y="7808238"/>
            <a:ext cx="2808446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GET/POST/PUT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0763369" y="7808238"/>
            <a:ext cx="2812256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GET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37724" y="8519755"/>
            <a:ext cx="12954952" cy="350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Tout endpoint non explicitement autorisé est </a:t>
            </a:r>
            <a:r>
              <a:rPr lang="en-US" sz="1600" b="1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refusé par défaut</a:t>
            </a: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(</a:t>
            </a:r>
            <a:r>
              <a:rPr lang="en-US" sz="16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.anyRequest().denyAll()</a:t>
            </a: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), garantissant une sécurité maximale.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3060383"/>
            <a:ext cx="6176248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Configuration CORS et Web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837724" y="4199811"/>
            <a:ext cx="5083493" cy="369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Origines autorisées en développement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837724" y="4778931"/>
            <a:ext cx="6895267" cy="68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La classe </a:t>
            </a:r>
            <a:r>
              <a:rPr lang="en-US" sz="16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WebConfig.java</a:t>
            </a: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configure le CORS pour permettre les requêtes cross-origin depuis nos applications frontend pendant le développement 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37724" y="5652730"/>
            <a:ext cx="6895267" cy="350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http://localhost:3000</a:t>
            </a: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— React/Next.js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37724" y="6076236"/>
            <a:ext cx="6895267" cy="350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http://localhost:4200</a:t>
            </a: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— Angular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7724" y="6499741"/>
            <a:ext cx="6895267" cy="350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http://localhost:5173</a:t>
            </a: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— Vite/Vue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37724" y="7038499"/>
            <a:ext cx="6895267" cy="68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Les headers exposés incluent </a:t>
            </a:r>
            <a:r>
              <a:rPr lang="en-US" sz="16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Authorization</a:t>
            </a: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et </a:t>
            </a:r>
            <a:r>
              <a:rPr lang="en-US" sz="16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Content-Disposition</a:t>
            </a: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pour permettre le téléchargement de fichiers et la lecture des tokens.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51627" y="4226004"/>
            <a:ext cx="5548670" cy="2747486"/>
          </a:xfrm>
          <a:prstGeom prst="roundRect">
            <a:avLst>
              <a:gd name="adj" fmla="val 1144"/>
            </a:avLst>
          </a:prstGeom>
          <a:solidFill>
            <a:srgbClr val="F7BAB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1058" y="4508302"/>
            <a:ext cx="308015" cy="2463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978503" y="4487704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Production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8978503" y="5005149"/>
            <a:ext cx="4612362" cy="16752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En production, cette configuration doit être resserrée pour n'autoriser que les domaines légitimes de l'établissement. Le CORS est un mécanisme de sécurité crucial pour éviter les attaques cross-site.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6294" y="568047"/>
            <a:ext cx="7540109" cy="607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Filtre JWT : extraction et validation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26294" y="1588770"/>
            <a:ext cx="12977812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Le </a:t>
            </a:r>
            <a:r>
              <a:rPr lang="en-US" sz="16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JwtAuthenticationFilter</a:t>
            </a: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intercepte chaque requête pour extraire le token Bearer, le valider, et alimenter le contexte de sécurité Spring. C'est le gardien de notre API.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6294" y="2497455"/>
            <a:ext cx="12977812" cy="8190865"/>
          </a:xfrm>
          <a:prstGeom prst="roundRect">
            <a:avLst>
              <a:gd name="adj" fmla="val 392"/>
            </a:avLst>
          </a:prstGeom>
          <a:solidFill>
            <a:srgbClr val="F2ED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826294" y="2241827"/>
            <a:ext cx="12998291" cy="7911703"/>
          </a:xfrm>
          <a:prstGeom prst="roundRect">
            <a:avLst>
              <a:gd name="adj" fmla="val 392"/>
            </a:avLst>
          </a:prstGeom>
          <a:solidFill>
            <a:srgbClr val="F2ED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032867" y="2241827"/>
            <a:ext cx="12585144" cy="7601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600"/>
              </a:lnSpc>
            </a:pP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String </a:t>
            </a:r>
            <a:r>
              <a:rPr lang="en-US" sz="1600" dirty="0" err="1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authHeader</a:t>
            </a: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= </a:t>
            </a:r>
            <a:r>
              <a:rPr lang="en-US" sz="1600" dirty="0" err="1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request.getHeader</a:t>
            </a: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(</a:t>
            </a:r>
            <a:r>
              <a:rPr lang="en-US" sz="1600" dirty="0" err="1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HttpHeaders.AUTHORIZATION</a:t>
            </a: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);</a:t>
            </a:r>
          </a:p>
          <a:p>
            <a:pPr>
              <a:lnSpc>
                <a:spcPts val="2600"/>
              </a:lnSpc>
            </a:pP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if (</a:t>
            </a:r>
            <a:r>
              <a:rPr lang="en-US" sz="1600" dirty="0" err="1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authHeader</a:t>
            </a: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== null || !</a:t>
            </a:r>
            <a:r>
              <a:rPr lang="en-US" sz="1600" dirty="0" err="1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authHeader.startsWith</a:t>
            </a: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("Bearer ")) {</a:t>
            </a:r>
          </a:p>
          <a:p>
            <a:pPr>
              <a:lnSpc>
                <a:spcPts val="2600"/>
              </a:lnSpc>
            </a:pP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</a:t>
            </a:r>
            <a:r>
              <a:rPr lang="en-US" sz="1600" dirty="0" err="1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chain.doFilter</a:t>
            </a: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(request, response);</a:t>
            </a:r>
          </a:p>
          <a:p>
            <a:pPr>
              <a:lnSpc>
                <a:spcPts val="2600"/>
              </a:lnSpc>
            </a:pP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return;</a:t>
            </a:r>
          </a:p>
          <a:p>
            <a:pPr>
              <a:lnSpc>
                <a:spcPts val="2600"/>
              </a:lnSpc>
            </a:pP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}</a:t>
            </a:r>
          </a:p>
          <a:p>
            <a:pPr>
              <a:lnSpc>
                <a:spcPts val="2600"/>
              </a:lnSpc>
            </a:pP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String </a:t>
            </a:r>
            <a:r>
              <a:rPr lang="en-US" sz="1600" dirty="0" err="1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jwt</a:t>
            </a: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= </a:t>
            </a:r>
            <a:r>
              <a:rPr lang="en-US" sz="1600" dirty="0" err="1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authHeader.substring</a:t>
            </a: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(7);</a:t>
            </a:r>
          </a:p>
          <a:p>
            <a:pPr>
              <a:lnSpc>
                <a:spcPts val="2600"/>
              </a:lnSpc>
            </a:pP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String username = </a:t>
            </a:r>
            <a:r>
              <a:rPr lang="en-US" sz="1600" dirty="0" err="1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jwtService.extractUsername</a:t>
            </a: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(</a:t>
            </a:r>
            <a:r>
              <a:rPr lang="en-US" sz="1600" dirty="0" err="1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jwt</a:t>
            </a: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);</a:t>
            </a:r>
          </a:p>
          <a:p>
            <a:pPr>
              <a:lnSpc>
                <a:spcPts val="2600"/>
              </a:lnSpc>
            </a:pP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if (username != null &amp;&amp;</a:t>
            </a:r>
          </a:p>
          <a:p>
            <a:pPr>
              <a:lnSpc>
                <a:spcPts val="2600"/>
              </a:lnSpc>
            </a:pP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</a:t>
            </a:r>
            <a:r>
              <a:rPr lang="en-US" sz="1600" dirty="0" err="1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SecurityContextHolder.getContext</a:t>
            </a: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().</a:t>
            </a:r>
            <a:r>
              <a:rPr lang="en-US" sz="1600" dirty="0" err="1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getAuthentication</a:t>
            </a: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() == null) {</a:t>
            </a:r>
          </a:p>
          <a:p>
            <a:pPr>
              <a:lnSpc>
                <a:spcPts val="2600"/>
              </a:lnSpc>
            </a:pPr>
            <a:r>
              <a:rPr lang="en-US" sz="1600" dirty="0" err="1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UserDetails</a:t>
            </a: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user = </a:t>
            </a:r>
            <a:r>
              <a:rPr lang="en-US" sz="1600" dirty="0" err="1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userDetailsService.loadUserByUsername</a:t>
            </a: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(username);</a:t>
            </a:r>
          </a:p>
          <a:p>
            <a:pPr>
              <a:lnSpc>
                <a:spcPts val="2600"/>
              </a:lnSpc>
            </a:pPr>
            <a:endParaRPr lang="en-US" sz="1600" dirty="0">
              <a:solidFill>
                <a:srgbClr val="3B3535"/>
              </a:solidFill>
              <a:latin typeface="Consolas Light" pitchFamily="34" charset="0"/>
              <a:ea typeface="Consolas Light" pitchFamily="34" charset="-122"/>
              <a:cs typeface="Consolas Light" pitchFamily="34" charset="-120"/>
            </a:endParaRPr>
          </a:p>
          <a:p>
            <a:pPr>
              <a:lnSpc>
                <a:spcPts val="2600"/>
              </a:lnSpc>
            </a:pP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if (</a:t>
            </a:r>
            <a:r>
              <a:rPr lang="en-US" sz="1600" dirty="0" err="1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jwtService.isTokenValid</a:t>
            </a: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(</a:t>
            </a:r>
            <a:r>
              <a:rPr lang="en-US" sz="1600" dirty="0" err="1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jwt</a:t>
            </a: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, </a:t>
            </a:r>
            <a:r>
              <a:rPr lang="en-US" sz="1600" dirty="0" err="1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user.getUsername</a:t>
            </a: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())) {</a:t>
            </a:r>
          </a:p>
          <a:p>
            <a:pPr>
              <a:lnSpc>
                <a:spcPts val="2600"/>
              </a:lnSpc>
            </a:pP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</a:t>
            </a:r>
            <a:r>
              <a:rPr lang="en-US" sz="1600" dirty="0" err="1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UsernamePasswordAuthenticationToken</a:t>
            </a: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auth =</a:t>
            </a:r>
          </a:p>
          <a:p>
            <a:pPr>
              <a:lnSpc>
                <a:spcPts val="2600"/>
              </a:lnSpc>
            </a:pP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        new </a:t>
            </a:r>
            <a:r>
              <a:rPr lang="en-US" sz="1600" dirty="0" err="1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UsernamePasswordAuthenticationToken</a:t>
            </a: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(</a:t>
            </a:r>
          </a:p>
          <a:p>
            <a:pPr>
              <a:lnSpc>
                <a:spcPts val="2600"/>
              </a:lnSpc>
            </a:pP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                user,</a:t>
            </a:r>
          </a:p>
          <a:p>
            <a:pPr>
              <a:lnSpc>
                <a:spcPts val="2600"/>
              </a:lnSpc>
            </a:pP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                null,</a:t>
            </a:r>
          </a:p>
          <a:p>
            <a:pPr>
              <a:lnSpc>
                <a:spcPts val="2600"/>
              </a:lnSpc>
            </a:pP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                </a:t>
            </a:r>
            <a:r>
              <a:rPr lang="en-US" sz="1600" dirty="0" err="1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user.getAuthorities</a:t>
            </a: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()</a:t>
            </a:r>
          </a:p>
          <a:p>
            <a:pPr>
              <a:lnSpc>
                <a:spcPts val="2600"/>
              </a:lnSpc>
            </a:pP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        );</a:t>
            </a:r>
          </a:p>
          <a:p>
            <a:pPr>
              <a:lnSpc>
                <a:spcPts val="2600"/>
              </a:lnSpc>
            </a:pPr>
            <a:r>
              <a:rPr lang="en-US" sz="1600" dirty="0" err="1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auth.setDetails</a:t>
            </a: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(</a:t>
            </a:r>
          </a:p>
          <a:p>
            <a:pPr>
              <a:lnSpc>
                <a:spcPts val="2600"/>
              </a:lnSpc>
            </a:pP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        new </a:t>
            </a:r>
            <a:r>
              <a:rPr lang="en-US" sz="1600" dirty="0" err="1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WebAuthenticationDetailsSource</a:t>
            </a: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()</a:t>
            </a:r>
          </a:p>
          <a:p>
            <a:pPr>
              <a:lnSpc>
                <a:spcPts val="2600"/>
              </a:lnSpc>
            </a:pP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                .</a:t>
            </a:r>
            <a:r>
              <a:rPr lang="en-US" sz="1600" dirty="0" err="1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buildDetails</a:t>
            </a: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(request)</a:t>
            </a:r>
          </a:p>
          <a:p>
            <a:pPr>
              <a:lnSpc>
                <a:spcPts val="2600"/>
              </a:lnSpc>
            </a:pP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);</a:t>
            </a:r>
          </a:p>
          <a:p>
            <a:pPr>
              <a:lnSpc>
                <a:spcPts val="2600"/>
              </a:lnSpc>
            </a:pPr>
            <a:r>
              <a:rPr lang="en-US" sz="1600" dirty="0" err="1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SecurityContextHolder.getContext</a:t>
            </a: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().</a:t>
            </a:r>
            <a:r>
              <a:rPr lang="en-US" sz="1600" dirty="0" err="1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setAuthentication</a:t>
            </a: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(auth);</a:t>
            </a:r>
          </a:p>
          <a:p>
            <a:pPr>
              <a:lnSpc>
                <a:spcPts val="2600"/>
              </a:lnSpc>
            </a:pP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}</a:t>
            </a:r>
          </a:p>
          <a:p>
            <a:pPr>
              <a:lnSpc>
                <a:spcPts val="2600"/>
              </a:lnSpc>
            </a:pP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534483"/>
            <a:ext cx="6342817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Filtre JWT : flux de validation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837724" y="3569256"/>
            <a:ext cx="209431" cy="261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ed Hat Text Light" pitchFamily="34" charset="0"/>
                <a:ea typeface="Red Hat Text Light" pitchFamily="34" charset="-122"/>
                <a:cs typeface="Red Hat Text Light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37724" y="3902273"/>
            <a:ext cx="4178618" cy="22860"/>
          </a:xfrm>
          <a:prstGeom prst="rect">
            <a:avLst/>
          </a:prstGeom>
          <a:solidFill>
            <a:srgbClr val="F5A3A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837724" y="4052649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Extraction du header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37724" y="4486275"/>
            <a:ext cx="4178618" cy="700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Lecture du header </a:t>
            </a:r>
            <a:r>
              <a:rPr lang="en-US" sz="16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Authorization: Bearer &lt;token&gt;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225772" y="3569256"/>
            <a:ext cx="209431" cy="261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ed Hat Text Light" pitchFamily="34" charset="0"/>
                <a:ea typeface="Red Hat Text Light" pitchFamily="34" charset="-122"/>
                <a:cs typeface="Red Hat Text Light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225772" y="3902273"/>
            <a:ext cx="4178737" cy="22860"/>
          </a:xfrm>
          <a:prstGeom prst="rect">
            <a:avLst/>
          </a:prstGeom>
          <a:solidFill>
            <a:srgbClr val="F5A3A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225772" y="4052649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Parsing du JWT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225772" y="4486275"/>
            <a:ext cx="4178737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Extraction du username (subject) et des claims du token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13940" y="3569256"/>
            <a:ext cx="209431" cy="261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ed Hat Text Light" pitchFamily="34" charset="0"/>
                <a:ea typeface="Red Hat Text Light" pitchFamily="34" charset="-122"/>
                <a:cs typeface="Red Hat Text Light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613940" y="3902273"/>
            <a:ext cx="4178737" cy="22860"/>
          </a:xfrm>
          <a:prstGeom prst="rect">
            <a:avLst/>
          </a:prstGeom>
          <a:solidFill>
            <a:srgbClr val="F5A3A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9613940" y="4052649"/>
            <a:ext cx="2514957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Chargement utilisateur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9613940" y="4486275"/>
            <a:ext cx="4178737" cy="68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Récupération des détails via </a:t>
            </a:r>
            <a:r>
              <a:rPr lang="en-US" sz="16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UserDetailsService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7724" y="5553313"/>
            <a:ext cx="209431" cy="261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ed Hat Text Light" pitchFamily="34" charset="0"/>
                <a:ea typeface="Red Hat Text Light" pitchFamily="34" charset="-122"/>
                <a:cs typeface="Red Hat Text Light" pitchFamily="34" charset="-120"/>
              </a:rPr>
              <a:t>04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37724" y="5886331"/>
            <a:ext cx="6372701" cy="22860"/>
          </a:xfrm>
          <a:prstGeom prst="rect">
            <a:avLst/>
          </a:prstGeom>
          <a:solidFill>
            <a:srgbClr val="F5A3A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837724" y="6036707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Validation signature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37724" y="6470333"/>
            <a:ext cx="6372701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Vérification HMAC et expiration du token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419856" y="5553313"/>
            <a:ext cx="209431" cy="261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ed Hat Text Light" pitchFamily="34" charset="0"/>
                <a:ea typeface="Red Hat Text Light" pitchFamily="34" charset="-122"/>
                <a:cs typeface="Red Hat Text Light" pitchFamily="34" charset="-120"/>
              </a:rPr>
              <a:t>05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419856" y="5886331"/>
            <a:ext cx="6372820" cy="22860"/>
          </a:xfrm>
          <a:prstGeom prst="rect">
            <a:avLst/>
          </a:prstGeom>
          <a:solidFill>
            <a:srgbClr val="F5A3A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7419856" y="6036707"/>
            <a:ext cx="25403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Authentification Spring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7419856" y="6470333"/>
            <a:ext cx="6372820" cy="350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Remplissage du </a:t>
            </a:r>
            <a:r>
              <a:rPr lang="en-US" sz="16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SecurityContext</a:t>
            </a: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avec rôles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37724" y="7213283"/>
            <a:ext cx="12954952" cy="1224915"/>
          </a:xfrm>
          <a:prstGeom prst="roundRect">
            <a:avLst>
              <a:gd name="adj" fmla="val 2565"/>
            </a:avLst>
          </a:prstGeom>
          <a:solidFill>
            <a:srgbClr val="F7BAB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155" y="7520226"/>
            <a:ext cx="261818" cy="209431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518404" y="7474982"/>
            <a:ext cx="12064841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À retenir :</a:t>
            </a:r>
            <a:r>
              <a:rPr lang="en-US" sz="160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Sans session serveur, chaque requête est indépendante. Le token contient toutes les informations nécessaires à l'authentification et l'autorisation.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833557"/>
            <a:ext cx="7999690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Service JWT : génération des tokens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837724" y="1868329"/>
            <a:ext cx="12954952" cy="68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La classe </a:t>
            </a:r>
            <a:r>
              <a:rPr lang="en-US" sz="16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JwtService.java</a:t>
            </a: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encapsule toute la logique de manipulation des tokens JWT. Elle utilise HMAC-SHA256 pour signer les tokens avec un secret configurable.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37724" y="2789277"/>
            <a:ext cx="12954952" cy="6315194"/>
          </a:xfrm>
          <a:prstGeom prst="roundRect">
            <a:avLst>
              <a:gd name="adj" fmla="val 427"/>
            </a:avLst>
          </a:prstGeom>
          <a:solidFill>
            <a:srgbClr val="F2ED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827365" y="2789277"/>
            <a:ext cx="12975669" cy="6679843"/>
          </a:xfrm>
          <a:prstGeom prst="roundRect">
            <a:avLst>
              <a:gd name="adj" fmla="val 427"/>
            </a:avLst>
          </a:prstGeom>
          <a:solidFill>
            <a:srgbClr val="F2ED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036796" y="2946321"/>
            <a:ext cx="12556808" cy="7035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600"/>
              </a:lnSpc>
            </a:pP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public String </a:t>
            </a:r>
            <a:r>
              <a:rPr lang="en-US" sz="1600" dirty="0" err="1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generateToken</a:t>
            </a: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(String username, Collection&lt;? extends </a:t>
            </a:r>
            <a:r>
              <a:rPr lang="en-US" sz="1600" dirty="0" err="1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GrantedAuthority</a:t>
            </a: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&gt; authorities) {</a:t>
            </a:r>
          </a:p>
          <a:p>
            <a:pPr>
              <a:lnSpc>
                <a:spcPts val="2600"/>
              </a:lnSpc>
            </a:pP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Date now = new Date();</a:t>
            </a:r>
          </a:p>
          <a:p>
            <a:pPr>
              <a:lnSpc>
                <a:spcPts val="2600"/>
              </a:lnSpc>
            </a:pP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Date expiry = new Date(</a:t>
            </a:r>
            <a:r>
              <a:rPr lang="en-US" sz="1600" dirty="0" err="1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now.getTime</a:t>
            </a: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() + </a:t>
            </a:r>
            <a:r>
              <a:rPr lang="en-US" sz="1600" dirty="0" err="1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expirationMillis</a:t>
            </a: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);</a:t>
            </a:r>
          </a:p>
          <a:p>
            <a:pPr>
              <a:lnSpc>
                <a:spcPts val="2600"/>
              </a:lnSpc>
            </a:pPr>
            <a:endParaRPr lang="en-US" sz="1600" dirty="0">
              <a:solidFill>
                <a:srgbClr val="3B3535"/>
              </a:solidFill>
              <a:latin typeface="Consolas Light" pitchFamily="34" charset="0"/>
              <a:ea typeface="Consolas Light" pitchFamily="34" charset="-122"/>
              <a:cs typeface="Consolas Light" pitchFamily="34" charset="-120"/>
            </a:endParaRPr>
          </a:p>
          <a:p>
            <a:pPr>
              <a:lnSpc>
                <a:spcPts val="2600"/>
              </a:lnSpc>
            </a:pP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List&lt;String&gt; roles = (authorities == null)</a:t>
            </a:r>
          </a:p>
          <a:p>
            <a:pPr>
              <a:lnSpc>
                <a:spcPts val="2600"/>
              </a:lnSpc>
            </a:pP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    ? </a:t>
            </a:r>
            <a:r>
              <a:rPr lang="en-US" sz="1600" dirty="0" err="1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List.of</a:t>
            </a: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()</a:t>
            </a:r>
          </a:p>
          <a:p>
            <a:pPr>
              <a:lnSpc>
                <a:spcPts val="2600"/>
              </a:lnSpc>
            </a:pP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    : </a:t>
            </a:r>
            <a:r>
              <a:rPr lang="en-US" sz="1600" dirty="0" err="1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authorities.stream</a:t>
            </a: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()</a:t>
            </a:r>
          </a:p>
          <a:p>
            <a:pPr>
              <a:lnSpc>
                <a:spcPts val="2600"/>
              </a:lnSpc>
            </a:pP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        .map(</a:t>
            </a:r>
            <a:r>
              <a:rPr lang="en-US" sz="1600" dirty="0" err="1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GrantedAuthority</a:t>
            </a: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::</a:t>
            </a:r>
            <a:r>
              <a:rPr lang="en-US" sz="1600" dirty="0" err="1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getAuthority</a:t>
            </a: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)</a:t>
            </a:r>
          </a:p>
          <a:p>
            <a:pPr>
              <a:lnSpc>
                <a:spcPts val="2600"/>
              </a:lnSpc>
            </a:pP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        .</a:t>
            </a:r>
            <a:r>
              <a:rPr lang="en-US" sz="1600" dirty="0" err="1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toList</a:t>
            </a: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();</a:t>
            </a:r>
          </a:p>
          <a:p>
            <a:pPr>
              <a:lnSpc>
                <a:spcPts val="2600"/>
              </a:lnSpc>
            </a:pPr>
            <a:endParaRPr lang="en-US" sz="1600" dirty="0">
              <a:solidFill>
                <a:srgbClr val="3B3535"/>
              </a:solidFill>
              <a:latin typeface="Consolas Light" pitchFamily="34" charset="0"/>
              <a:ea typeface="Consolas Light" pitchFamily="34" charset="-122"/>
              <a:cs typeface="Consolas Light" pitchFamily="34" charset="-120"/>
            </a:endParaRPr>
          </a:p>
          <a:p>
            <a:pPr>
              <a:lnSpc>
                <a:spcPts val="2600"/>
              </a:lnSpc>
            </a:pP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return </a:t>
            </a:r>
            <a:r>
              <a:rPr lang="en-US" sz="1600" dirty="0" err="1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Jwts.builder</a:t>
            </a: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()</a:t>
            </a:r>
          </a:p>
          <a:p>
            <a:pPr>
              <a:lnSpc>
                <a:spcPts val="2600"/>
              </a:lnSpc>
            </a:pP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    .</a:t>
            </a:r>
            <a:r>
              <a:rPr lang="en-US" sz="1600" dirty="0" err="1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setSubject</a:t>
            </a: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(username)</a:t>
            </a:r>
          </a:p>
          <a:p>
            <a:pPr>
              <a:lnSpc>
                <a:spcPts val="2600"/>
              </a:lnSpc>
            </a:pP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    .claim("roles", roles)</a:t>
            </a:r>
          </a:p>
          <a:p>
            <a:pPr>
              <a:lnSpc>
                <a:spcPts val="2600"/>
              </a:lnSpc>
            </a:pP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    .</a:t>
            </a:r>
            <a:r>
              <a:rPr lang="en-US" sz="1600" dirty="0" err="1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setIssuedAt</a:t>
            </a: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(now)</a:t>
            </a:r>
          </a:p>
          <a:p>
            <a:pPr>
              <a:lnSpc>
                <a:spcPts val="2600"/>
              </a:lnSpc>
            </a:pP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    .</a:t>
            </a:r>
            <a:r>
              <a:rPr lang="en-US" sz="1600" dirty="0" err="1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setExpiration</a:t>
            </a: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(expiry)</a:t>
            </a:r>
          </a:p>
          <a:p>
            <a:pPr>
              <a:lnSpc>
                <a:spcPts val="2600"/>
              </a:lnSpc>
            </a:pP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    .</a:t>
            </a:r>
            <a:r>
              <a:rPr lang="en-US" sz="1600" dirty="0" err="1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signWith</a:t>
            </a: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(</a:t>
            </a:r>
            <a:r>
              <a:rPr lang="en-US" sz="1600" dirty="0" err="1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signingKey</a:t>
            </a: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, SignatureAlgorithm.HS256)</a:t>
            </a:r>
          </a:p>
          <a:p>
            <a:pPr>
              <a:lnSpc>
                <a:spcPts val="2600"/>
              </a:lnSpc>
            </a:pP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    .compact();</a:t>
            </a:r>
          </a:p>
          <a:p>
            <a:pPr>
              <a:lnSpc>
                <a:spcPts val="2600"/>
              </a:lnSpc>
            </a:pPr>
            <a:r>
              <a:rPr lang="en-US" sz="16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953345"/>
            <a:ext cx="8037671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Service JWT : points clés de sécurité</a:t>
            </a:r>
            <a:endParaRPr lang="en-US" sz="3850" dirty="0"/>
          </a:p>
        </p:txBody>
      </p:sp>
      <p:sp>
        <p:nvSpPr>
          <p:cNvPr id="3" name="Shape 1"/>
          <p:cNvSpPr/>
          <p:nvPr/>
        </p:nvSpPr>
        <p:spPr>
          <a:xfrm>
            <a:off x="837724" y="3988118"/>
            <a:ext cx="6372701" cy="1918573"/>
          </a:xfrm>
          <a:prstGeom prst="roundRect">
            <a:avLst>
              <a:gd name="adj" fmla="val 5719"/>
            </a:avLst>
          </a:prstGeom>
          <a:solidFill>
            <a:srgbClr val="FFFAFA"/>
          </a:solidFill>
          <a:ln w="22860">
            <a:solidFill>
              <a:srgbClr val="D9CEC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814864" y="3988118"/>
            <a:ext cx="91440" cy="1918573"/>
          </a:xfrm>
          <a:prstGeom prst="roundRect">
            <a:avLst>
              <a:gd name="adj" fmla="val 34360"/>
            </a:avLst>
          </a:prstGeom>
          <a:solidFill>
            <a:srgbClr val="F5A3A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1138595" y="4220408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Secret externalisé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8595" y="4654034"/>
            <a:ext cx="5839539" cy="102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Le secret JWT est stocké dans </a:t>
            </a:r>
            <a:r>
              <a:rPr lang="en-US" sz="16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application.yml</a:t>
            </a: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(</a:t>
            </a:r>
            <a:r>
              <a:rPr lang="en-US" sz="16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jwt.secret</a:t>
            </a: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) et jamais hardcodé. En production, utiliser des variables d'environnement ou un vault.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419856" y="3988118"/>
            <a:ext cx="6372820" cy="1918573"/>
          </a:xfrm>
          <a:prstGeom prst="roundRect">
            <a:avLst>
              <a:gd name="adj" fmla="val 5719"/>
            </a:avLst>
          </a:prstGeom>
          <a:solidFill>
            <a:srgbClr val="FFFAFA"/>
          </a:solidFill>
          <a:ln w="22860">
            <a:solidFill>
              <a:srgbClr val="D9CEC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7396996" y="3988118"/>
            <a:ext cx="91440" cy="1918573"/>
          </a:xfrm>
          <a:prstGeom prst="roundRect">
            <a:avLst>
              <a:gd name="adj" fmla="val 34360"/>
            </a:avLst>
          </a:prstGeom>
          <a:solidFill>
            <a:srgbClr val="F5A3A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7720727" y="4220408"/>
            <a:ext cx="2531745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Expiration configurable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720727" y="4654034"/>
            <a:ext cx="5839658" cy="102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La durée de vie du token (</a:t>
            </a:r>
            <a:r>
              <a:rPr lang="en-US" sz="16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jwt.expirationMillis</a:t>
            </a: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) est paramétrable. Recommandation : 1-2 heures pour un bon équilibre sécurité/UX.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37724" y="6116122"/>
            <a:ext cx="6372701" cy="1903333"/>
          </a:xfrm>
          <a:prstGeom prst="roundRect">
            <a:avLst>
              <a:gd name="adj" fmla="val 5765"/>
            </a:avLst>
          </a:prstGeom>
          <a:solidFill>
            <a:srgbClr val="FFFAFA"/>
          </a:solidFill>
          <a:ln w="22860">
            <a:solidFill>
              <a:srgbClr val="D9CEC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814864" y="6116122"/>
            <a:ext cx="91440" cy="1903333"/>
          </a:xfrm>
          <a:prstGeom prst="roundRect">
            <a:avLst>
              <a:gd name="adj" fmla="val 34360"/>
            </a:avLst>
          </a:prstGeom>
          <a:solidFill>
            <a:srgbClr val="F5A3A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1138595" y="6348413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Claims enrichis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138595" y="6782038"/>
            <a:ext cx="5839539" cy="1005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Le token contient le username (subject) et la liste des rôles. Pas de données sensibles supplémentaires pour limiter la surface d'attaque en cas de compromission.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419856" y="6116122"/>
            <a:ext cx="6372820" cy="1903333"/>
          </a:xfrm>
          <a:prstGeom prst="roundRect">
            <a:avLst>
              <a:gd name="adj" fmla="val 5765"/>
            </a:avLst>
          </a:prstGeom>
          <a:solidFill>
            <a:srgbClr val="FFFAFA"/>
          </a:solidFill>
          <a:ln w="22860">
            <a:solidFill>
              <a:srgbClr val="D9CEC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7396996" y="6116122"/>
            <a:ext cx="91440" cy="1903333"/>
          </a:xfrm>
          <a:prstGeom prst="roundRect">
            <a:avLst>
              <a:gd name="adj" fmla="val 34360"/>
            </a:avLst>
          </a:prstGeom>
          <a:solidFill>
            <a:srgbClr val="F5A3A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7720727" y="6348413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Validation stricte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7720727" y="6782038"/>
            <a:ext cx="5839658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Chaque token est vérifié : signature HMAC valide, non expiré, username correspondant. Toute anomalie rejette la requête.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067276"/>
            <a:ext cx="6914317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Flow d'authentification complet</a:t>
            </a:r>
            <a:endParaRPr lang="en-US" sz="3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0527" y="2102048"/>
            <a:ext cx="10009346" cy="68977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61259" y="6394085"/>
            <a:ext cx="2735260" cy="342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Client Login</a:t>
            </a:r>
            <a:endParaRPr lang="en-US" sz="12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29407" y="4636903"/>
            <a:ext cx="647734" cy="64773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932573" y="3519157"/>
            <a:ext cx="2743154" cy="342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Server Issues JWT</a:t>
            </a:r>
            <a:endParaRPr lang="en-US" sz="12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76854" y="5031818"/>
            <a:ext cx="647734" cy="64773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787927" y="7242414"/>
            <a:ext cx="2735260" cy="342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Client Stores Token</a:t>
            </a:r>
            <a:endParaRPr lang="en-US" sz="12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824504" y="5426734"/>
            <a:ext cx="647734" cy="647734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9215917" y="4281661"/>
            <a:ext cx="2735260" cy="342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Requests with Bearer</a:t>
            </a:r>
            <a:endParaRPr lang="en-US" sz="12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003724" y="5850798"/>
            <a:ext cx="647734" cy="647734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837724" y="9235440"/>
            <a:ext cx="12954952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Ce flow garantit qu'aucune donnée de session n'est stockée côté serveur, permettant un déploiement multi-instances sans état partagé. Chaque requête est autonome et vérifiable.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474232"/>
            <a:ext cx="8679656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Modèle de données : entités principales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837724" y="2509004"/>
            <a:ext cx="12954952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Notre modèle relationnel reflète la structure d'un établissement scolaire, avec des relations explicites entre les entités pour garantir l'intégrité référentielle.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3414713"/>
            <a:ext cx="12954952" cy="60837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955516" y="7979887"/>
            <a:ext cx="2675129" cy="334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550"/>
              </a:lnSpc>
              <a:buNone/>
            </a:pPr>
            <a:r>
              <a:rPr lang="en-US" sz="125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Utilisateur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43819" y="8415148"/>
            <a:ext cx="3486827" cy="284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id, email, password, role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0088089" y="6846037"/>
            <a:ext cx="2675129" cy="334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Eleve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0088089" y="7281298"/>
            <a:ext cx="3398393" cy="568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id, nom, prenom, dateNaissance, utilisateurId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955319" y="5942747"/>
            <a:ext cx="2675129" cy="334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550"/>
              </a:lnSpc>
              <a:buNone/>
            </a:pPr>
            <a:r>
              <a:rPr lang="en-US" sz="125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Classe &amp; Matiere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143621" y="6378008"/>
            <a:ext cx="3486826" cy="568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Classe(id, nom, niveau) Matiere(id, nom, coefficient)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0088089" y="4875222"/>
            <a:ext cx="2675129" cy="334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Notes &amp; Inscription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0088089" y="5310483"/>
            <a:ext cx="3398393" cy="568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Note(eleveId,matiereId,enseignantId) Inscription(eleveId,classeId)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955516" y="4047732"/>
            <a:ext cx="2675129" cy="334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550"/>
              </a:lnSpc>
              <a:buNone/>
            </a:pPr>
            <a:r>
              <a:rPr lang="en-US" sz="125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Bulletin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1143819" y="4482993"/>
            <a:ext cx="3486827" cy="568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id, eleveId, classeId, periode, commentaire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3516868"/>
            <a:ext cx="7534632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Modèle de données : relations clés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837724" y="4761071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Élève </a:t>
            </a:r>
            <a:r>
              <a:rPr lang="en-US" sz="1900" dirty="0">
                <a:solidFill>
                  <a:srgbClr val="000000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↔</a:t>
            </a:r>
            <a:r>
              <a:rPr lang="en-US" sz="19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Classe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37724" y="5194697"/>
            <a:ext cx="4143732" cy="1690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Relation Many-to-Many via la table </a:t>
            </a:r>
            <a:r>
              <a:rPr lang="en-US" sz="16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Inscription</a:t>
            </a: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. Un élève peut être inscrit dans plusieurs classes (cas du changement de niveau), et une classe contient plusieurs élèves.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243274" y="4761071"/>
            <a:ext cx="2603897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Note → Élève + Matière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243274" y="5194697"/>
            <a:ext cx="4143732" cy="1340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Chaque note est liée à un élève, une matière et un enseignant. Cette triple association permet de tracer précisément qui a saisi quelle note et pour qui.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48825" y="4761071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Enseignement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648825" y="5194697"/>
            <a:ext cx="4143851" cy="1340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Table optionnelle reliant enseignants et matières. Permet de modéliser quels professeurs enseignent quelles matières, facilitant les contrôles d'accès métier.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37724" y="7120771"/>
            <a:ext cx="12954952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Toutes les entités héritent d'une classe de base avec identifiant technique et timestamps (création/modification) pour l'audit.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908102"/>
            <a:ext cx="6941463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DTOs et validation des données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837724" y="4047530"/>
            <a:ext cx="3140869" cy="369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Découplage entités/API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837724" y="4626650"/>
            <a:ext cx="6221968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Nous utilisons des DTOs (Data Transfer Objects) distincts pour chaque opération 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37724" y="5485209"/>
            <a:ext cx="6221968" cy="350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UtilisateurCreateRequest</a:t>
            </a: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— Création d'utilisateur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37724" y="5908715"/>
            <a:ext cx="6221968" cy="350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UtilisateurUpdateRequest</a:t>
            </a: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— Mise à jour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7724" y="6332220"/>
            <a:ext cx="6221968" cy="350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UtilisateurResponse</a:t>
            </a: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— Retour API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37724" y="6870978"/>
            <a:ext cx="6221968" cy="1005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Ce pattern garantit que les entités JPA ne sont jamais exposées directement, évitant les fuites de données et permettant une validation fine.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578328" y="4047530"/>
            <a:ext cx="3047167" cy="369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Validation automatique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7578328" y="4626650"/>
            <a:ext cx="6221968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Annotations Jakarta Validation sur les DTOs 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578328" y="5150168"/>
            <a:ext cx="6221968" cy="350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@NotNull</a:t>
            </a: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, </a:t>
            </a:r>
            <a:r>
              <a:rPr lang="en-US" sz="16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@NotBlank</a:t>
            </a: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— Champs obligatoires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578328" y="5573673"/>
            <a:ext cx="6221968" cy="350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@Email</a:t>
            </a: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— Format email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578328" y="5997178"/>
            <a:ext cx="6221968" cy="350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@Size</a:t>
            </a: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— Longueur min/max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578328" y="6420683"/>
            <a:ext cx="6221968" cy="350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@Pattern</a:t>
            </a: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— Regex personnalisées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578328" y="6959441"/>
            <a:ext cx="6221968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Les erreurs de validation sont capturées et retournées en JSON structuré.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694492"/>
            <a:ext cx="8011597" cy="585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Mappers : transformation des données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837724" y="1677591"/>
            <a:ext cx="12954952" cy="64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La classe </a:t>
            </a:r>
            <a:r>
              <a:rPr lang="en-US" sz="155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MatiereMapper.java</a:t>
            </a:r>
            <a:r>
              <a:rPr lang="en-US" sz="15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(et ses équivalents pour chaque entité) centralise la logique de conversion entre entités JPA et DTOs. Ce pattern évite la duplication de code et facilite la maintenance.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837724" y="2545556"/>
            <a:ext cx="12954952" cy="6663452"/>
          </a:xfrm>
          <a:prstGeom prst="roundRect">
            <a:avLst>
              <a:gd name="adj" fmla="val 448"/>
            </a:avLst>
          </a:prstGeom>
          <a:solidFill>
            <a:srgbClr val="F2ED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837724" y="2545556"/>
            <a:ext cx="12974717" cy="6663452"/>
          </a:xfrm>
          <a:prstGeom prst="roundRect">
            <a:avLst>
              <a:gd name="adj" fmla="val 448"/>
            </a:avLst>
          </a:prstGeom>
          <a:solidFill>
            <a:srgbClr val="F2ED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026795" y="2694742"/>
            <a:ext cx="12576810" cy="6365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5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@Component</a:t>
            </a:r>
          </a:p>
          <a:p>
            <a:pPr>
              <a:lnSpc>
                <a:spcPts val="2500"/>
              </a:lnSpc>
            </a:pPr>
            <a:r>
              <a:rPr lang="en-US" sz="155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public class </a:t>
            </a:r>
            <a:r>
              <a:rPr lang="en-US" sz="1550" dirty="0" err="1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MatiereMapper</a:t>
            </a:r>
            <a:r>
              <a:rPr lang="en-US" sz="155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{</a:t>
            </a:r>
          </a:p>
          <a:p>
            <a:pPr>
              <a:lnSpc>
                <a:spcPts val="2500"/>
              </a:lnSpc>
            </a:pPr>
            <a:endParaRPr lang="en-US" sz="1550" dirty="0">
              <a:solidFill>
                <a:srgbClr val="3B3535"/>
              </a:solidFill>
              <a:latin typeface="Consolas Light" pitchFamily="34" charset="0"/>
              <a:ea typeface="Consolas Light" pitchFamily="34" charset="-122"/>
              <a:cs typeface="Consolas Light" pitchFamily="34" charset="-120"/>
            </a:endParaRPr>
          </a:p>
          <a:p>
            <a:pPr>
              <a:lnSpc>
                <a:spcPts val="2500"/>
              </a:lnSpc>
            </a:pPr>
            <a:r>
              <a:rPr lang="en-US" sz="155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public </a:t>
            </a:r>
            <a:r>
              <a:rPr lang="en-US" sz="1550" dirty="0" err="1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MatiereResponse</a:t>
            </a:r>
            <a:r>
              <a:rPr lang="en-US" sz="155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</a:t>
            </a:r>
            <a:r>
              <a:rPr lang="en-US" sz="1550" dirty="0" err="1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toResponse</a:t>
            </a:r>
            <a:r>
              <a:rPr lang="en-US" sz="155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(</a:t>
            </a:r>
            <a:r>
              <a:rPr lang="en-US" sz="1550" dirty="0" err="1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Matiere</a:t>
            </a:r>
            <a:r>
              <a:rPr lang="en-US" sz="155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entity) {</a:t>
            </a:r>
          </a:p>
          <a:p>
            <a:pPr>
              <a:lnSpc>
                <a:spcPts val="2500"/>
              </a:lnSpc>
            </a:pPr>
            <a:r>
              <a:rPr lang="en-US" sz="155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return </a:t>
            </a:r>
            <a:r>
              <a:rPr lang="en-US" sz="1550" dirty="0" err="1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MatiereResponse.builder</a:t>
            </a:r>
            <a:r>
              <a:rPr lang="en-US" sz="155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()</a:t>
            </a:r>
          </a:p>
          <a:p>
            <a:pPr>
              <a:lnSpc>
                <a:spcPts val="2500"/>
              </a:lnSpc>
            </a:pPr>
            <a:r>
              <a:rPr lang="en-US" sz="155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        .id(</a:t>
            </a:r>
            <a:r>
              <a:rPr lang="en-US" sz="1550" dirty="0" err="1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entity.getId</a:t>
            </a:r>
            <a:r>
              <a:rPr lang="en-US" sz="155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())</a:t>
            </a:r>
          </a:p>
          <a:p>
            <a:pPr>
              <a:lnSpc>
                <a:spcPts val="2500"/>
              </a:lnSpc>
            </a:pPr>
            <a:r>
              <a:rPr lang="en-US" sz="155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        .nom(</a:t>
            </a:r>
            <a:r>
              <a:rPr lang="en-US" sz="1550" dirty="0" err="1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entity.getNom</a:t>
            </a:r>
            <a:r>
              <a:rPr lang="en-US" sz="155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())</a:t>
            </a:r>
          </a:p>
          <a:p>
            <a:pPr>
              <a:lnSpc>
                <a:spcPts val="2500"/>
              </a:lnSpc>
            </a:pPr>
            <a:r>
              <a:rPr lang="en-US" sz="155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        .coefficient(</a:t>
            </a:r>
            <a:r>
              <a:rPr lang="en-US" sz="1550" dirty="0" err="1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entity.getCoefficient</a:t>
            </a:r>
            <a:r>
              <a:rPr lang="en-US" sz="155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())</a:t>
            </a:r>
          </a:p>
          <a:p>
            <a:pPr>
              <a:lnSpc>
                <a:spcPts val="2500"/>
              </a:lnSpc>
            </a:pPr>
            <a:r>
              <a:rPr lang="en-US" sz="155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        .</a:t>
            </a:r>
            <a:r>
              <a:rPr lang="en-US" sz="1550" dirty="0" err="1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createdAt</a:t>
            </a:r>
            <a:r>
              <a:rPr lang="en-US" sz="155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(</a:t>
            </a:r>
            <a:r>
              <a:rPr lang="en-US" sz="1550" dirty="0" err="1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entity.getCreatedAt</a:t>
            </a:r>
            <a:r>
              <a:rPr lang="en-US" sz="155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())</a:t>
            </a:r>
          </a:p>
          <a:p>
            <a:pPr>
              <a:lnSpc>
                <a:spcPts val="2500"/>
              </a:lnSpc>
            </a:pPr>
            <a:r>
              <a:rPr lang="en-US" sz="155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        .build();</a:t>
            </a:r>
          </a:p>
          <a:p>
            <a:pPr>
              <a:lnSpc>
                <a:spcPts val="2500"/>
              </a:lnSpc>
            </a:pPr>
            <a:r>
              <a:rPr lang="en-US" sz="155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}</a:t>
            </a:r>
          </a:p>
          <a:p>
            <a:pPr>
              <a:lnSpc>
                <a:spcPts val="2500"/>
              </a:lnSpc>
            </a:pPr>
            <a:endParaRPr lang="en-US" sz="1550" dirty="0">
              <a:solidFill>
                <a:srgbClr val="3B3535"/>
              </a:solidFill>
              <a:latin typeface="Consolas Light" pitchFamily="34" charset="0"/>
              <a:ea typeface="Consolas Light" pitchFamily="34" charset="-122"/>
              <a:cs typeface="Consolas Light" pitchFamily="34" charset="-120"/>
            </a:endParaRPr>
          </a:p>
          <a:p>
            <a:pPr>
              <a:lnSpc>
                <a:spcPts val="2500"/>
              </a:lnSpc>
            </a:pPr>
            <a:r>
              <a:rPr lang="en-US" sz="155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public </a:t>
            </a:r>
            <a:r>
              <a:rPr lang="en-US" sz="1550" dirty="0" err="1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Matiere</a:t>
            </a:r>
            <a:r>
              <a:rPr lang="en-US" sz="155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</a:t>
            </a:r>
            <a:r>
              <a:rPr lang="en-US" sz="1550" dirty="0" err="1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toEntity</a:t>
            </a:r>
            <a:r>
              <a:rPr lang="en-US" sz="155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(</a:t>
            </a:r>
            <a:r>
              <a:rPr lang="en-US" sz="1550" dirty="0" err="1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MatiereCreateRequest</a:t>
            </a:r>
            <a:r>
              <a:rPr lang="en-US" sz="155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request) {</a:t>
            </a:r>
          </a:p>
          <a:p>
            <a:pPr>
              <a:lnSpc>
                <a:spcPts val="2500"/>
              </a:lnSpc>
            </a:pPr>
            <a:r>
              <a:rPr lang="en-US" sz="155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</a:t>
            </a:r>
            <a:r>
              <a:rPr lang="en-US" sz="1550" dirty="0" err="1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Matiere</a:t>
            </a:r>
            <a:r>
              <a:rPr lang="en-US" sz="155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</a:t>
            </a:r>
            <a:r>
              <a:rPr lang="en-US" sz="1550" dirty="0" err="1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matiere</a:t>
            </a:r>
            <a:r>
              <a:rPr lang="en-US" sz="155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= new </a:t>
            </a:r>
            <a:r>
              <a:rPr lang="en-US" sz="1550" dirty="0" err="1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Matiere</a:t>
            </a:r>
            <a:r>
              <a:rPr lang="en-US" sz="155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();</a:t>
            </a:r>
          </a:p>
          <a:p>
            <a:pPr>
              <a:lnSpc>
                <a:spcPts val="2500"/>
              </a:lnSpc>
            </a:pPr>
            <a:r>
              <a:rPr lang="en-US" sz="155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</a:t>
            </a:r>
            <a:r>
              <a:rPr lang="en-US" sz="1550" dirty="0" err="1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matiere.setNom</a:t>
            </a:r>
            <a:r>
              <a:rPr lang="en-US" sz="155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(</a:t>
            </a:r>
            <a:r>
              <a:rPr lang="en-US" sz="1550" dirty="0" err="1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request.getNom</a:t>
            </a:r>
            <a:r>
              <a:rPr lang="en-US" sz="155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());</a:t>
            </a:r>
          </a:p>
          <a:p>
            <a:pPr>
              <a:lnSpc>
                <a:spcPts val="2500"/>
              </a:lnSpc>
            </a:pPr>
            <a:r>
              <a:rPr lang="en-US" sz="155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</a:t>
            </a:r>
            <a:r>
              <a:rPr lang="en-US" sz="1550" dirty="0" err="1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matiere.setCoefficient</a:t>
            </a:r>
            <a:r>
              <a:rPr lang="en-US" sz="155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(</a:t>
            </a:r>
            <a:r>
              <a:rPr lang="en-US" sz="1550" dirty="0" err="1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request.getCoefficient</a:t>
            </a:r>
            <a:r>
              <a:rPr lang="en-US" sz="155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());</a:t>
            </a:r>
          </a:p>
          <a:p>
            <a:pPr>
              <a:lnSpc>
                <a:spcPts val="2500"/>
              </a:lnSpc>
            </a:pPr>
            <a:r>
              <a:rPr lang="en-US" sz="155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return </a:t>
            </a:r>
            <a:r>
              <a:rPr lang="en-US" sz="1550" dirty="0" err="1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matiere</a:t>
            </a:r>
            <a:r>
              <a:rPr lang="en-US" sz="155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;</a:t>
            </a:r>
          </a:p>
          <a:p>
            <a:pPr>
              <a:lnSpc>
                <a:spcPts val="2500"/>
              </a:lnSpc>
            </a:pPr>
            <a:r>
              <a:rPr lang="en-US" sz="155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}</a:t>
            </a:r>
          </a:p>
          <a:p>
            <a:pPr>
              <a:lnSpc>
                <a:spcPts val="2500"/>
              </a:lnSpc>
            </a:pPr>
            <a:r>
              <a:rPr lang="en-US" sz="155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}</a:t>
            </a:r>
          </a:p>
        </p:txBody>
      </p:sp>
      <p:sp>
        <p:nvSpPr>
          <p:cNvPr id="7" name="Shape 5"/>
          <p:cNvSpPr/>
          <p:nvPr/>
        </p:nvSpPr>
        <p:spPr>
          <a:xfrm>
            <a:off x="837724" y="9432846"/>
            <a:ext cx="12954952" cy="845344"/>
          </a:xfrm>
          <a:prstGeom prst="roundRect">
            <a:avLst>
              <a:gd name="adj" fmla="val 3531"/>
            </a:avLst>
          </a:prstGeom>
          <a:solidFill>
            <a:srgbClr val="F7BAB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677" y="9728240"/>
            <a:ext cx="248722" cy="19895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84352" y="9681448"/>
            <a:ext cx="12109371" cy="318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Les mappers sont injectés dans les services via Spring, garantissant une logique de transformation cohérente dans toute l'application.</a:t>
            </a:r>
            <a:endParaRPr lang="en-US" sz="15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056447"/>
            <a:ext cx="9228415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Gestion des erreurs : réponses cohérentes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837724" y="3091220"/>
            <a:ext cx="12954952" cy="68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La classe </a:t>
            </a:r>
            <a:r>
              <a:rPr lang="en-US" sz="16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ApiExceptionHandler.java</a:t>
            </a: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centralise la gestion des exceptions et garantit des réponses JSON structurées pour tous les cas d'erreur.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37724" y="4221599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Exceptions métier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7724" y="4739045"/>
            <a:ext cx="6221968" cy="350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EntityNotFoundException</a:t>
            </a: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→ 404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37724" y="5162550"/>
            <a:ext cx="6221968" cy="350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DuplicateEntityException</a:t>
            </a: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→ 409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7724" y="5586055"/>
            <a:ext cx="6221968" cy="350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ValidationException</a:t>
            </a: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→ 400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37724" y="6009561"/>
            <a:ext cx="6221968" cy="350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UnauthorizedException</a:t>
            </a: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→ 401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578328" y="4221599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Format de réponse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578328" y="4765238"/>
            <a:ext cx="6221968" cy="2994422"/>
          </a:xfrm>
          <a:prstGeom prst="roundRect">
            <a:avLst>
              <a:gd name="adj" fmla="val 1049"/>
            </a:avLst>
          </a:prstGeom>
          <a:solidFill>
            <a:srgbClr val="F2ED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7567970" y="4765238"/>
            <a:ext cx="6242685" cy="2994422"/>
          </a:xfrm>
          <a:prstGeom prst="roundRect">
            <a:avLst>
              <a:gd name="adj" fmla="val 1049"/>
            </a:avLst>
          </a:prstGeom>
          <a:solidFill>
            <a:srgbClr val="F2ED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7777401" y="4922282"/>
            <a:ext cx="5823823" cy="2680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B3535"/>
                </a:solidFill>
                <a:highlight>
                  <a:srgbClr val="F2EDED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{  "timestamp": "2024-01-15T10:30:00",  "status": 404,  "error": "Not Found",  "message": "Élève non trouvé",  "path": "/api/eleves/123"}      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7724" y="8230910"/>
            <a:ext cx="12954952" cy="68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Les handlers spécialisés </a:t>
            </a:r>
            <a:r>
              <a:rPr lang="en-US" sz="16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JsonAuthenticationEntryPoint</a:t>
            </a: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(401) et </a:t>
            </a:r>
            <a:r>
              <a:rPr lang="en-US" sz="16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JsonAccessDeniedHandler</a:t>
            </a: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(403) garantissent que même les erreurs de sécurité Spring retournent du JSON, jamais de HTML.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1945</Words>
  <Application>Microsoft Office PowerPoint</Application>
  <PresentationFormat>Personnalisé</PresentationFormat>
  <Paragraphs>268</Paragraphs>
  <Slides>18</Slides>
  <Notes>18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5" baseType="lpstr">
      <vt:lpstr>Arial</vt:lpstr>
      <vt:lpstr>Roboto Light</vt:lpstr>
      <vt:lpstr>Red Hat Text</vt:lpstr>
      <vt:lpstr>Consolas</vt:lpstr>
      <vt:lpstr>Red Hat Text Light</vt:lpstr>
      <vt:lpstr>Consolas Light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Baptiste Roumanie</cp:lastModifiedBy>
  <cp:revision>2</cp:revision>
  <dcterms:created xsi:type="dcterms:W3CDTF">2025-11-18T10:19:28Z</dcterms:created>
  <dcterms:modified xsi:type="dcterms:W3CDTF">2025-11-18T10:39:25Z</dcterms:modified>
</cp:coreProperties>
</file>